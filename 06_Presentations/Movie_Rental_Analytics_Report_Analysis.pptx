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7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525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80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B1139"/>
          </a:solidFill>
          <a:ln w="12700">
            <a:solidFill>
              <a:srgbClr val="7B11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2560320"/>
            <a:ext cx="4572000" cy="4572000"/>
          </a:xfrm>
          <a:prstGeom prst="ellipse">
            <a:avLst/>
          </a:prstGeom>
          <a:solidFill>
            <a:srgbClr val="7B1139"/>
          </a:solidFill>
          <a:ln w="12700">
            <a:solidFill>
              <a:srgbClr val="7B11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8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E880AB"/>
                </a:solidFill>
              </a:rPr>
              <a:t>CAPSTONE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Sakila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CE4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DVD Rental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80AB"/>
                </a:solidFill>
              </a:rPr>
              <a:t>Store Business Intelligence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0AB"/>
                </a:solidFill>
              </a:rPr>
              <a:t>Analysed by  </a:t>
            </a:r>
            <a:r>
              <a:rPr lang="en-US" sz="1000" b="1" dirty="0">
                <a:solidFill>
                  <a:srgbClr val="FFFFFF"/>
                </a:solidFill>
              </a:rPr>
              <a:t>Aakriti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0AB"/>
                </a:solidFill>
              </a:rPr>
              <a:t>Qualification  </a:t>
            </a:r>
            <a:r>
              <a:rPr lang="en-US" sz="1000" b="1" dirty="0">
                <a:solidFill>
                  <a:srgbClr val="FFFFFF"/>
                </a:solidFill>
              </a:rPr>
              <a:t>M Com, MBA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050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0AB"/>
                </a:solidFill>
              </a:rPr>
              <a:t>Email  </a:t>
            </a:r>
            <a:r>
              <a:rPr lang="en-US" sz="1000" b="1" dirty="0">
                <a:solidFill>
                  <a:srgbClr val="FFFFFF"/>
                </a:solidFill>
              </a:rPr>
              <a:t>aakriti.9703@gmail.com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37083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500" dirty="0">
                <a:solidFill>
                  <a:srgbClr val="E880AB"/>
                </a:solidFill>
              </a:rPr>
              <a:t>TOOLS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4590288"/>
            <a:ext cx="1170432" cy="411480"/>
          </a:xfrm>
          <a:prstGeom prst="ellipse">
            <a:avLst/>
          </a:prstGeom>
          <a:solidFill>
            <a:srgbClr val="E91E8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59028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4590288"/>
            <a:ext cx="1170432" cy="411480"/>
          </a:xfrm>
          <a:prstGeom prst="ellipse">
            <a:avLst/>
          </a:prstGeom>
          <a:solidFill>
            <a:srgbClr val="E91E8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28800" y="459028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4590288"/>
            <a:ext cx="1170432" cy="411480"/>
          </a:xfrm>
          <a:prstGeom prst="ellipse">
            <a:avLst/>
          </a:prstGeom>
          <a:solidFill>
            <a:srgbClr val="E91E8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459028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66360" y="320040"/>
            <a:ext cx="3794760" cy="749808"/>
          </a:xfrm>
          <a:prstGeom prst="rect">
            <a:avLst/>
          </a:prstGeom>
          <a:solidFill>
            <a:srgbClr val="F9F0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66360" y="320040"/>
            <a:ext cx="45720" cy="749808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94960" y="3657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$67K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0" y="521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66360" y="1234440"/>
            <a:ext cx="37947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66360" y="1234440"/>
            <a:ext cx="45720" cy="74980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94960" y="12801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58000" y="14356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Active Customers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66360" y="2148840"/>
            <a:ext cx="3794760" cy="749808"/>
          </a:xfrm>
          <a:prstGeom prst="rect">
            <a:avLst/>
          </a:prstGeom>
          <a:solidFill>
            <a:srgbClr val="F9F0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166360" y="2148840"/>
            <a:ext cx="45720" cy="749808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94960" y="21945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16K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58000" y="23500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Total Rentals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66360" y="3063240"/>
            <a:ext cx="37947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66360" y="3063240"/>
            <a:ext cx="45720" cy="7498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94960" y="31089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58000" y="3264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Avg Rental Days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66360" y="3977640"/>
            <a:ext cx="3794760" cy="749808"/>
          </a:xfrm>
          <a:prstGeom prst="rect">
            <a:avLst/>
          </a:prstGeom>
          <a:solidFill>
            <a:srgbClr val="F9F0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166360" y="3977640"/>
            <a:ext cx="45720" cy="74980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94960" y="40233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58000" y="4178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Revenue/Rental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66360" y="4956048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E9E9E"/>
                </a:solidFill>
              </a:rPr>
              <a:t>Dataset: Sakila MySQL Database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5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C2185B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7432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713232"/>
          </a:xfrm>
          <a:prstGeom prst="rect">
            <a:avLst/>
          </a:prstGeom>
          <a:solidFill>
            <a:srgbClr val="880E4F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8BBD0"/>
                </a:solidFill>
              </a:rPr>
              <a:t>Objective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37360" y="987552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Build a comprehensive Power BI dashboard using the Sakila DVD Rental Database to enable data-driven decisions across customer behavior, film inventory, staff performance, and store operations — with actionable insights for growth.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4096512" cy="896112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45720" cy="896112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188366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185B"/>
                </a:solidFill>
              </a:rPr>
              <a:t>👥 Customer Segmentation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Classify 584 active customers into Low (&lt;80), Mid (80–150), and High (&gt;150) value tiers across 109 countries and 599 cities.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828800"/>
            <a:ext cx="4096512" cy="896112"/>
          </a:xfrm>
          <a:prstGeom prst="rect">
            <a:avLst/>
          </a:prstGeom>
          <a:solidFill>
            <a:srgbClr val="F9F0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45720" cy="896112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82312" y="188366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A2"/>
                </a:solidFill>
              </a:rPr>
              <a:t>📈 Sales &amp; Revenue Trends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2312" y="2148840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Track $67K total revenue, $4.17 per rental, YTD revenue, and MoM trends — In-Store (41%) vs Online (40%).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852928"/>
            <a:ext cx="4096512" cy="896112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852928"/>
            <a:ext cx="45720" cy="896112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" y="290779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1E8C"/>
                </a:solidFill>
              </a:rPr>
              <a:t>🎬 Film Inventory Intelligence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6072" y="3172968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Analyze 1,000 films across 16 categories, 4,581 inventory items, avg rental rate $2.98, and 115.27-min avg duration.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2852928"/>
            <a:ext cx="4096512" cy="896112"/>
          </a:xfrm>
          <a:prstGeom prst="rect">
            <a:avLst/>
          </a:prstGeom>
          <a:solidFill>
            <a:srgbClr val="F9F0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2852928"/>
            <a:ext cx="45720" cy="89611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82312" y="290779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</a:rPr>
              <a:t>🏪 Store &amp; Operations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82312" y="3172968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Compare 2 stores and 2 staff managing 16,044 total rentals with 5.03-day average rental duration.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877056"/>
            <a:ext cx="4096512" cy="896112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3877056"/>
            <a:ext cx="45720" cy="896112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6072" y="393192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95C"/>
                </a:solidFill>
              </a:rPr>
              <a:t>🌍 Geographic Insights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6072" y="4197096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Map revenue and customer density across 599 cities in 109 countries to identify expansion markets.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3877056"/>
            <a:ext cx="4096512" cy="896112"/>
          </a:xfrm>
          <a:prstGeom prst="rect">
            <a:avLst/>
          </a:prstGeom>
          <a:solidFill>
            <a:srgbClr val="F9F0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17720" y="3877056"/>
            <a:ext cx="45720" cy="896112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82312" y="393192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27B0"/>
                </a:solidFill>
              </a:rPr>
              <a:t>👤 Staff &amp; HR Analytics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82312" y="4197096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Assess 2 staff with 20-year avg employment, rental productivity by duration buckets, and revenue per staff.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5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C2185B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 — Sakila Database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7432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</a:rPr>
              <a:t>A MySQL database representing a DVD rental store — 15+ interconnected tables spanning actors, films, customers, inventory, payments, rentals, staff &amp; stores.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2011680" cy="384048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599 customers — ID, Name, Email, Address, Active Status, City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12344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42032" y="1234440"/>
            <a:ext cx="2011680" cy="384048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42032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33472" y="1691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16K rentals — Inventory ID, Customer ID, Rental &amp; Return Dates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72584" y="12344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72584" y="1234440"/>
            <a:ext cx="2011680" cy="3840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72584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64024" y="1691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16K payments — Amount, Date, Staff ID, Customer 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03136" y="12344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03136" y="1234440"/>
            <a:ext cx="2011680" cy="384048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03136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94576" y="1691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1,000 films — Title, Rating, Duration, Rental Rate, Language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10896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108960"/>
            <a:ext cx="2011680" cy="38404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5661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4,581 items — Film copies per store with availability tracking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42032" y="310896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42032" y="3108960"/>
            <a:ext cx="2011680" cy="384048"/>
          </a:xfrm>
          <a:prstGeom prst="rect">
            <a:avLst/>
          </a:prstGeom>
          <a:solidFill>
            <a:srgbClr val="E64A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42032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33472" y="35661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2 staff — Login, Store ID, Employment Duration, Rental handling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72584" y="310896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72584" y="3108960"/>
            <a:ext cx="2011680" cy="384048"/>
          </a:xfrm>
          <a:prstGeom prst="rect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72584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64024" y="35661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2 stores — Address, Manager ID, Revenue &amp; operational data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03136" y="310896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03136" y="3108960"/>
            <a:ext cx="2011680" cy="384048"/>
          </a:xfrm>
          <a:prstGeom prst="rect">
            <a:avLst/>
          </a:prstGeom>
          <a:solidFill>
            <a:srgbClr val="558B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03136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Actor/Cat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94576" y="35661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</a:rPr>
              <a:t>Actors via film_actor; 16 categories via film_category junction tables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5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C2185B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7432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761488" cy="3931920"/>
          </a:xfrm>
          <a:prstGeom prst="rect">
            <a:avLst/>
          </a:prstGeom>
          <a:solidFill>
            <a:srgbClr val="FDF4F8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761488" cy="502920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2185B"/>
                </a:solidFill>
              </a:rPr>
              <a:t>›  </a:t>
            </a:r>
            <a:r>
              <a:rPr lang="en-US" sz="950" dirty="0">
                <a:solidFill>
                  <a:srgbClr val="1A1A1A"/>
                </a:solidFill>
              </a:rPr>
              <a:t>Extracted data from 15+ Sakila tables via multi-table JOINs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2185B"/>
                </a:solidFill>
              </a:rPr>
              <a:t>›  </a:t>
            </a:r>
            <a:r>
              <a:rPr lang="en-US" sz="950" dirty="0">
                <a:solidFill>
                  <a:srgbClr val="1A1A1A"/>
                </a:solidFill>
              </a:rPr>
              <a:t>Derived customer segments: &lt;80 Low, 80–150 Mid, &gt;150 High Value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03580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2185B"/>
                </a:solidFill>
              </a:rPr>
              <a:t>›  </a:t>
            </a:r>
            <a:r>
              <a:rPr lang="en-US" sz="950" dirty="0">
                <a:solidFill>
                  <a:srgbClr val="1A1A1A"/>
                </a:solidFill>
              </a:rPr>
              <a:t>Aggregated rentals, revenue, avg duration per staff, store &amp; city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376732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2185B"/>
                </a:solidFill>
              </a:rPr>
              <a:t>›  </a:t>
            </a:r>
            <a:r>
              <a:rPr lang="en-US" sz="950" dirty="0">
                <a:solidFill>
                  <a:srgbClr val="1A1A1A"/>
                </a:solidFill>
              </a:rPr>
              <a:t>Built YTD, MoM growth, and employment duration queries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9272" y="960120"/>
            <a:ext cx="2761488" cy="3931920"/>
          </a:xfrm>
          <a:prstGeom prst="rect">
            <a:avLst/>
          </a:prstGeom>
          <a:solidFill>
            <a:srgbClr val="F3E5F5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19272" y="960120"/>
            <a:ext cx="2761488" cy="50292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56432" y="960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Excel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157276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</a:rPr>
              <a:t>›  </a:t>
            </a:r>
            <a:r>
              <a:rPr lang="en-US" sz="950" dirty="0">
                <a:solidFill>
                  <a:srgbClr val="1A1A1A"/>
                </a:solidFill>
              </a:rPr>
              <a:t>EDA with pivot tables for category-level rental volume analysis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56432" y="230428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</a:rPr>
              <a:t>›  </a:t>
            </a:r>
            <a:r>
              <a:rPr lang="en-US" sz="950" dirty="0">
                <a:solidFill>
                  <a:srgbClr val="1A1A1A"/>
                </a:solidFill>
              </a:rPr>
              <a:t>Validated $66,892.38 total revenue and 16,044 total rental count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56432" y="303580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</a:rPr>
              <a:t>›  </a:t>
            </a:r>
            <a:r>
              <a:rPr lang="en-US" sz="950" dirty="0">
                <a:solidFill>
                  <a:srgbClr val="1A1A1A"/>
                </a:solidFill>
              </a:rPr>
              <a:t>Cross-checked payment splits: In-Store 41% vs Online 40%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56432" y="376732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</a:rPr>
              <a:t>›  </a:t>
            </a:r>
            <a:r>
              <a:rPr lang="en-US" sz="950" dirty="0">
                <a:solidFill>
                  <a:srgbClr val="1A1A1A"/>
                </a:solidFill>
              </a:rPr>
              <a:t>Cleaned address, city, country data for geographic mapping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27064" y="960120"/>
            <a:ext cx="2761488" cy="3931920"/>
          </a:xfrm>
          <a:prstGeom prst="rect">
            <a:avLst/>
          </a:prstGeom>
          <a:solidFill>
            <a:srgbClr val="FCE4EC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27064" y="960120"/>
            <a:ext cx="2761488" cy="50292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64224" y="960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Power BI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64224" y="157276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</a:rPr>
              <a:t>›  </a:t>
            </a:r>
            <a:r>
              <a:rPr lang="en-US" sz="950" dirty="0">
                <a:solidFill>
                  <a:srgbClr val="1A1A1A"/>
                </a:solidFill>
              </a:rPr>
              <a:t>Star schema: fact Rental &amp; Payment linked to 6 dimension tables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64224" y="230428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</a:rPr>
              <a:t>›  </a:t>
            </a:r>
            <a:r>
              <a:rPr lang="en-US" sz="950" dirty="0">
                <a:solidFill>
                  <a:srgbClr val="1A1A1A"/>
                </a:solidFill>
              </a:rPr>
              <a:t>DAX measures: MoM%, YTD, Customer Segments, Duration Buckets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64224" y="303580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</a:rPr>
              <a:t>›  </a:t>
            </a:r>
            <a:r>
              <a:rPr lang="en-US" sz="950" dirty="0">
                <a:solidFill>
                  <a:srgbClr val="1A1A1A"/>
                </a:solidFill>
              </a:rPr>
              <a:t>6 interactive pages: Dashboard, Sales, Film, Store, Geography, Staff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64224" y="376732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</a:rPr>
              <a:t>›  </a:t>
            </a:r>
            <a:r>
              <a:rPr lang="en-US" sz="950" dirty="0">
                <a:solidFill>
                  <a:srgbClr val="1A1A1A"/>
                </a:solidFill>
              </a:rPr>
              <a:t>Slicers: Rating, Category, Country, City, Payment channel, Date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2185B"/>
                </a:solidFill>
              </a:rPr>
              <a:t>SQL  →  Data Extraction &amp; Segmentation    |    Excel  →  EDA &amp; Validation    |    Power BI  →  Modeling, DAX &amp; Dashboard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5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C2185B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7432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1572768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1572768" cy="36576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$67K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75688" y="914400"/>
            <a:ext cx="1572768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75688" y="914400"/>
            <a:ext cx="1572768" cy="36576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75688" y="96926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75688" y="131673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Avg Rental Days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39896" y="914400"/>
            <a:ext cx="1572768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39896" y="914400"/>
            <a:ext cx="1572768" cy="36576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39896" y="96926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39896" y="131673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Active Customers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04104" y="914400"/>
            <a:ext cx="1572768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04104" y="914400"/>
            <a:ext cx="1572768" cy="36576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04104" y="96926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04104" y="131673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Total Rentals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068312" y="914400"/>
            <a:ext cx="1572768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68312" y="914400"/>
            <a:ext cx="1572768" cy="36576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68312" y="96926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68312" y="131673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Rev / Rental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1719072"/>
            <a:ext cx="5486400" cy="3246120"/>
          </a:xfrm>
          <a:prstGeom prst="rect">
            <a:avLst/>
          </a:prstGeom>
          <a:solidFill>
            <a:srgbClr val="FCE4EC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0" descr="/home/claude/aakriti_pages/page-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755648"/>
            <a:ext cx="5358384" cy="317296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035040" y="1719072"/>
            <a:ext cx="2697480" cy="758952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035040" y="1719072"/>
            <a:ext cx="45720" cy="758952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72200" y="17739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185B"/>
                </a:solidFill>
              </a:rPr>
              <a:t>Revenue peaked in July 2005 (~$20K)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172200" y="201168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Monthly trend shows sharp rise from May, peaking Jul–Aug 2005. Clear seasonality needs off-peak promotions.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035040" y="2551176"/>
            <a:ext cx="2697480" cy="758952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035040" y="2551176"/>
            <a:ext cx="45720" cy="758952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172200" y="260604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1FA2"/>
                </a:solidFill>
              </a:rPr>
              <a:t>Mid-Value segment leads at $10K+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172200" y="284378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The 80–150 bracket generates the most revenue with ~500 customers — highest retention priority.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035040" y="3383280"/>
            <a:ext cx="2697480" cy="758952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035040" y="3383280"/>
            <a:ext cx="45720" cy="758952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172200" y="3438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1E8C"/>
                </a:solidFill>
              </a:rPr>
              <a:t>PG-13 dominates inventory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172200" y="367588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PG-13 leads across all movie length buckets, making it the most widely available rating in both stores.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035040" y="4215384"/>
            <a:ext cx="2697480" cy="758952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035040" y="4215384"/>
            <a:ext cx="45720" cy="75895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172200" y="42702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</a:rPr>
              <a:t>Europe &amp; Asia are top markets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172200" y="446753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</a:rPr>
              <a:t>Revenue by Country map shows active clusters concentrated in Europe and South/Southeast Asia.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50292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2185B"/>
                </a:solidFill>
              </a:rPr>
              <a:t>★  6 interactive pages with slicers for Rating, Category, Country, Payment Channel &amp; Date — enabling real-time drill-down for store management.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5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C2185B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Revenue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7432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1988820" cy="36576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$67K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9174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91740" y="914400"/>
            <a:ext cx="1988820" cy="36576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9174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$67K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9174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YTD Revenue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1988820" cy="36576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Active Customers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5226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52260" y="914400"/>
            <a:ext cx="1988820" cy="36576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5226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5226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Total Rentals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1719072"/>
            <a:ext cx="5212080" cy="2999232"/>
          </a:xfrm>
          <a:prstGeom prst="rect">
            <a:avLst/>
          </a:prstGeom>
          <a:solidFill>
            <a:srgbClr val="FCE4EC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/home/claude/aakriti_pages/page-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755648"/>
            <a:ext cx="5084064" cy="29260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742432" y="1719072"/>
            <a:ext cx="2990088" cy="384048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33872" y="1719072"/>
            <a:ext cx="2852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FFFFFF"/>
                </a:solidFill>
              </a:rPr>
              <a:t>Q: How does revenue trend over time, and how is it distributed by segment and payment channel?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742432" y="2212848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742432" y="2212848"/>
            <a:ext cx="45720" cy="868680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870448" y="22677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185B"/>
                </a:solidFill>
              </a:rPr>
              <a:t>Q3-2005 was peak quarter at $6K+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70448" y="252374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Quarterly Segmentation shows Q3 and Q2 of 2005 as strongest. Q1-2006 drops sharply — signals need for seasonal strategy.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742432" y="3191256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742432" y="3191256"/>
            <a:ext cx="45720" cy="868680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870448" y="32461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185B"/>
                </a:solidFill>
              </a:rPr>
              <a:t>In-Store (41%) and Online (40%) nearly equal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870448" y="350215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Payment donut shows 8K transactions each channel, $34K vs $33K revenue — a strong omnichannel balance to maintain.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742432" y="4169664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742432" y="4169664"/>
            <a:ext cx="45720" cy="868680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870448" y="41840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185B"/>
                </a:solidFill>
              </a:rPr>
              <a:t>Mid-Value (80–150) leads with $10K+ revenue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870448" y="439964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80–150 bracket has ~500 customers and the highest revenue bar. Low Value (&lt;80) generates minimal revenue despite volume.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0292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C2185B"/>
                </a:solidFill>
              </a:rPr>
              <a:t>★  Takeaway: YTD = Total Revenue ($67K). Reactivating Low Value customers through targeted promos could unlock the next revenue tier.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5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7B1FA2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Film &amp; Inventory Intelligence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7432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1988820" cy="36576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Total Films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9174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91740" y="914400"/>
            <a:ext cx="1988820" cy="36576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9174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4,581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9174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Inventory Items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1988820" cy="36576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$2.98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Avg Rental Rate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5226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52260" y="914400"/>
            <a:ext cx="1988820" cy="36576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5226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5226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Categories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1719072"/>
            <a:ext cx="5212080" cy="2999232"/>
          </a:xfrm>
          <a:prstGeom prst="rect">
            <a:avLst/>
          </a:prstGeom>
          <a:solidFill>
            <a:srgbClr val="FCE4EC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/home/claude/aakriti_pages/page-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755648"/>
            <a:ext cx="5084064" cy="29260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742432" y="1719072"/>
            <a:ext cx="2990088" cy="3840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33872" y="1719072"/>
            <a:ext cx="2852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FFFFFF"/>
                </a:solidFill>
              </a:rPr>
              <a:t>Q: Which film categories and ratings drive the most inventory and rentals, and how are they priced?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742432" y="2212848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742432" y="2212848"/>
            <a:ext cx="45720" cy="86868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870448" y="22677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</a:rPr>
              <a:t>Sports leads inventory with 344 items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70448" y="252374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Treemap confirms Sports, Animation (335), Action (312), Sci-Fi &amp; Drama (300) as top 5 — reflecting a broad genre strategy.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742432" y="3191256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742432" y="3191256"/>
            <a:ext cx="45720" cy="86868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870448" y="32461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</a:rPr>
              <a:t>Games &amp; Travel command highest avg rental rates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870448" y="350215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Horizontal bar shows Games and Travel far above the $2.98 benchmark. Action &amp; Documentary lowest at $2.67 — repricing opportunity.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742432" y="4169664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742432" y="4169664"/>
            <a:ext cx="45720" cy="86868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870448" y="4224528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</a:rPr>
              <a:t>All 16 categories near-equal distribution (5.6–7.4%)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854264" y="436727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Films by Category donut shows Sports (7.4%), Foreign (7.3%), Family (6.9%) at top — a well-balanced inventory strategy.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0292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C2185B"/>
                </a:solidFill>
              </a:rPr>
              <a:t>★  Takeaway: Games and Travel command premium rates but may be under-stocked — more titles in these 2 categories could directly boost per-rental revenue.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5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E91E8C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&amp; Operations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7432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1988820" cy="36576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$66.89K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Store Revenue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9174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91740" y="914400"/>
            <a:ext cx="1988820" cy="36576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9174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9174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Avg Rental Duration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1988820" cy="36576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16,044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Total Rentals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5226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52260" y="914400"/>
            <a:ext cx="1988820" cy="36576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5226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5226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Stores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1719072"/>
            <a:ext cx="5212080" cy="2999232"/>
          </a:xfrm>
          <a:prstGeom prst="rect">
            <a:avLst/>
          </a:prstGeom>
          <a:solidFill>
            <a:srgbClr val="FCE4EC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/home/claude/aakriti_pages/page-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755648"/>
            <a:ext cx="5084064" cy="29260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742432" y="1719072"/>
            <a:ext cx="2990088" cy="384048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33872" y="1719072"/>
            <a:ext cx="2852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FFFFFF"/>
                </a:solidFill>
              </a:rPr>
              <a:t>Q: How does store revenue vary by month and day of week, and which staff drives the most rentals?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742432" y="2212848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742432" y="2212848"/>
            <a:ext cx="45720" cy="86868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870448" y="22677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</a:rPr>
              <a:t>Jul–Aug 2005 are peak months for both stores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70448" y="252374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Monthly Revenue shows $10K+ combined in Jul and Aug 2005. May-2005 and Feb-2006 are lowest, signaling mid-year peak with early-year decline.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742432" y="3191256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742432" y="3191256"/>
            <a:ext cx="45720" cy="86868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870448" y="32461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</a:rPr>
              <a:t>Saturday &amp; Sunday show highest weekly revenue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870448" y="350215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Weekly Revenue chart shows both stores peak on Sat–Sun. Revenue steadily declines through week; Wednesday is lowest.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742432" y="4169664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742432" y="4169664"/>
            <a:ext cx="45720" cy="86868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870448" y="41921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1E8C"/>
                </a:solidFill>
              </a:rPr>
              <a:t>Jon Stephens (Staff 2) leads at $14,370 in Jul-2005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870448" y="4383456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Staff table shows Jon Stephens handling 8,121 rentals/month with Jul-2005 as peak ($14,370.35) and avg duration 5.01 days.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0292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C2185B"/>
                </a:solidFill>
              </a:rPr>
              <a:t>★  Takeaway: Both stores show near-identical staff productivity. A weekend-focused promotional strategy could amplify the already-strong Sat–Sun revenue peak.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5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00897B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&amp; Geographic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743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198882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Total Customers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9174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91740" y="914400"/>
            <a:ext cx="198882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9174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9174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Countries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198882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Cities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5226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52260" y="914400"/>
            <a:ext cx="198882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5226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3-Tier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5226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Segmentation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1719072"/>
            <a:ext cx="5212080" cy="2999232"/>
          </a:xfrm>
          <a:prstGeom prst="rect">
            <a:avLst/>
          </a:prstGeom>
          <a:solidFill>
            <a:srgbClr val="FCE4EC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/home/claude/aakriti_pages/page-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755648"/>
            <a:ext cx="5084064" cy="29260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742432" y="1719072"/>
            <a:ext cx="2990088" cy="38404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33872" y="1719072"/>
            <a:ext cx="2852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FFFFFF"/>
                </a:solidFill>
              </a:rPr>
              <a:t>Q: How are customers and revenue distributed globally, and which cities and segments drive the most value?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742432" y="2212848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742432" y="2212848"/>
            <a:ext cx="45720" cy="8686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870448" y="22677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</a:rPr>
              <a:t>Aurora and London top city-level customer counts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70448" y="252374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Aurora shows widest bar (predominantly Mid-Value 80–150). London is only city with a noticeable High Value (&gt;150) customer segment.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742432" y="3191256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742432" y="3191256"/>
            <a:ext cx="45720" cy="8686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870448" y="32461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</a:rPr>
              <a:t>High-Value customers are geographically concentrated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870448" y="350215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London is the only city with a visible &gt;150 High Value bar. Most other cities show only Mid or Low-Value customers — rare but high-worth accounts.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742432" y="4169664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742432" y="4169664"/>
            <a:ext cx="45720" cy="8686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870448" y="4224528"/>
            <a:ext cx="2862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</a:rPr>
              <a:t>Revenue vs count is non-linear — quality beats quantity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870448" y="4432008"/>
            <a:ext cx="2862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Scatter shows countries with 20–30 customers generating $5K+ revenue, while 50+ customer countries generate less.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0292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C2185B"/>
                </a:solidFill>
              </a:rPr>
              <a:t>★  Takeaway: Concentrating loyalty investment on Aurora, London, and high revenue-per-customer countries would maximize marketing ROI.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5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9C27B0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&amp; HR Analytics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7432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1988820" cy="36576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27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Staff Members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9174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91740" y="914400"/>
            <a:ext cx="1988820" cy="36576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9174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27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yrs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9174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Avg Employment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1988820" cy="36576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27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Avg Rental Duration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52260" y="914400"/>
            <a:ext cx="1988820" cy="68580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52260" y="914400"/>
            <a:ext cx="1988820" cy="36576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52260" y="969264"/>
            <a:ext cx="19888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27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16,044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52260" y="1316736"/>
            <a:ext cx="19888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Total Rentals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1719072"/>
            <a:ext cx="5212080" cy="2999232"/>
          </a:xfrm>
          <a:prstGeom prst="rect">
            <a:avLst/>
          </a:prstGeom>
          <a:solidFill>
            <a:srgbClr val="FCE4EC"/>
          </a:solidFill>
          <a:ln/>
          <a:effectLst>
            <a:outerShdw blurRad="127000" dist="508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/home/claude/aakriti_pages/page-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755648"/>
            <a:ext cx="5084064" cy="29260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742432" y="1719072"/>
            <a:ext cx="2990088" cy="384048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33872" y="1719072"/>
            <a:ext cx="2852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FFFFFF"/>
                </a:solidFill>
              </a:rPr>
              <a:t>Q: How do the two staff compare in rentals, revenue, and which rental duration buckets are most profitable?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742432" y="2131928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742432" y="2131928"/>
            <a:ext cx="45720" cy="86868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870448" y="21867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C27B0"/>
                </a:solidFill>
              </a:rPr>
              <a:t>Both staff carry identical 20-year employment tenure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70448" y="244282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Staff 1 and Staff 2 both show Avg Employment Duration of 20.00 years — an experienced, stable team with deep institutional knowledge.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742432" y="3110336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742432" y="3110336"/>
            <a:ext cx="45720" cy="86868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870448" y="31652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C27B0"/>
                </a:solidFill>
              </a:rPr>
              <a:t>Staff 2 generates slightly higher revenue ($33,643 vs $33,248)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870448" y="3421232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Despite near-equal rental counts (8,121 vs 7,923), Staff 2 earns $395 more — suggesting marginally better ability to handle higher-value rentals.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742432" y="4088744"/>
            <a:ext cx="2990088" cy="86868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742432" y="4088744"/>
            <a:ext cx="45720" cy="86868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870448" y="4143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C27B0"/>
                </a:solidFill>
              </a:rPr>
              <a:t>10+ day rentals generate $519–$841 vs $4.17 average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870448" y="439964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The '10+ days' bucket delivers Revenue_per_Rental of $519.51 (Staff 1) and $841.10 (Staff 2) — 124×–200× the average. Massive upsell potential.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0292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C2185B"/>
                </a:solidFill>
              </a:rPr>
              <a:t>★  Takeaway: Training both staff to identify and upsell 10+ day rental opportunities could transform low-value customers into high-revenue accounts with minimal cost.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5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C2185B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7432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417320" cy="731520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38528" y="10515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$67K total revenue, $4.17/rental. Q3-2005 peak quarter. In-Store (41%) and Online (40%) near-equal — strong omnichannel. Q1-2006 shows sharp decline needing intervention.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8321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783080"/>
            <a:ext cx="1417320" cy="73152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Film &amp; Inventory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38528" y="18745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1,000 films, 16 categories, 4,581 inventory items. Sports leads with 344 items. Games &amp; Travel command the highest rental rates — prime revenue growth levers through increased stocking.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606040"/>
            <a:ext cx="8321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606040"/>
            <a:ext cx="1417320" cy="73152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6060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Operations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38528" y="26974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$66.89K store revenue. Jul–Aug 2005 peak. Saturday &amp; Sunday are highest-revenue days. Both stores nearly identical in staff productivity — weekend promotions could amplify the strong peak.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429000"/>
            <a:ext cx="8321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429000"/>
            <a:ext cx="1417320" cy="7315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38528" y="35204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599 customers across 109 countries and 599 cities. Aurora and London lead city count. Revenue-per-customer is non-linear — quality of customer segment matters more than volume.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251960"/>
            <a:ext cx="8321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4251960"/>
            <a:ext cx="1417320" cy="73152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2519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&amp; HR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38528" y="43434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2 staff, 20-year avg tenure, 16,044 rentals. 10+ day rental duration generates $519–$841/rental vs $4.17 average — the single highest-ROI upsell opportunity in the entire business.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5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C2185B">
                    <a:alpha val="1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27432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4096512" cy="1234440"/>
          </a:xfrm>
          <a:prstGeom prst="rect">
            <a:avLst/>
          </a:prstGeom>
          <a:solidFill>
            <a:srgbClr val="FDF4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658368" cy="1234440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87552"/>
            <a:ext cx="6583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9576" y="1078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185B"/>
                </a:solidFill>
              </a:rPr>
              <a:t>Re-engage Low-Value Customers (&lt;80)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79576" y="1389888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Target &lt;80 rental customers with 'rent 5, get 1 free' bundles to move them into the 80–150 Mid-Value bracket, which generates the highest revenue.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987552"/>
            <a:ext cx="4096512" cy="1234440"/>
          </a:xfrm>
          <a:prstGeom prst="rect">
            <a:avLst/>
          </a:prstGeom>
          <a:solidFill>
            <a:srgbClr val="F3E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987552"/>
            <a:ext cx="658368" cy="123444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987552"/>
            <a:ext cx="6583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85816" y="1078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A2"/>
                </a:solidFill>
              </a:rPr>
              <a:t>Increase Games &amp; Travel Inventory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85816" y="1389888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Both categories command the highest avg rental rates. Adding 50–80 more titles per store would directly improve revenue per rental without any discounting.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322576"/>
            <a:ext cx="4096512" cy="1234440"/>
          </a:xfrm>
          <a:prstGeom prst="rect">
            <a:avLst/>
          </a:prstGeom>
          <a:solidFill>
            <a:srgbClr val="FCE4E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322576"/>
            <a:ext cx="658368" cy="1234440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322576"/>
            <a:ext cx="6583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9576" y="24140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1E8C"/>
                </a:solidFill>
              </a:rPr>
              <a:t>Launch Weekend Rental Promotions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79576" y="272491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Saturday–Sunday already drive peak revenue. Launch 'Weekend Warriors' bundles or 'Buy 2, Get 3rd Free' weekend deals to deepen the revenue window.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2322576"/>
            <a:ext cx="4096512" cy="1234440"/>
          </a:xfrm>
          <a:prstGeom prst="rect">
            <a:avLst/>
          </a:prstGeom>
          <a:solidFill>
            <a:srgbClr val="E0F2F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2322576"/>
            <a:ext cx="658368" cy="123444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2322576"/>
            <a:ext cx="6583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85816" y="24140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</a:rPr>
              <a:t>Focus Loyalty Marketing on Aurora &amp; London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85816" y="272491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These cities lead in customer count and contain the only High-Value (&gt;150) customers. A loyalty rewards program here would protect high-value accounts.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657600"/>
            <a:ext cx="4096512" cy="1234440"/>
          </a:xfrm>
          <a:prstGeom prst="rect">
            <a:avLst/>
          </a:prstGeom>
          <a:solidFill>
            <a:srgbClr val="EDE7F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657600"/>
            <a:ext cx="658368" cy="123444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657600"/>
            <a:ext cx="6583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79576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27B0"/>
                </a:solidFill>
              </a:rPr>
              <a:t>Train Staff to Upsell 10+ Day Rentals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79576" y="4059936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10+ day rentals generate $519–$841/rental vs $4.17 avg. A structured upsell script during checkout for both staff could dramatically improve per-rental revenue.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657600"/>
            <a:ext cx="4096512" cy="1234440"/>
          </a:xfrm>
          <a:prstGeom prst="rect">
            <a:avLst/>
          </a:prstGeom>
          <a:solidFill>
            <a:srgbClr val="FBE9E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17720" y="3657600"/>
            <a:ext cx="658368" cy="1234440"/>
          </a:xfrm>
          <a:prstGeom prst="rect">
            <a:avLst/>
          </a:prstGeom>
          <a:solidFill>
            <a:srgbClr val="E64A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17720" y="3657600"/>
            <a:ext cx="6583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85816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4A19"/>
                </a:solidFill>
              </a:rPr>
              <a:t>Stabilize Post-Peak Revenue (Q1-2006 Decline)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85816" y="4059936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Q1-2006 shows a sharp drop. Introduce 'New Year Rental Bundles', extended rental periods at discounted rates, and new category launches in Jan–Feb.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80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B1139"/>
          </a:solidFill>
          <a:ln w="12700">
            <a:solidFill>
              <a:srgbClr val="7B11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7B1139"/>
          </a:solidFill>
          <a:ln w="12700">
            <a:solidFill>
              <a:srgbClr val="7B11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-365760"/>
            <a:ext cx="2011680" cy="201168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474720" cy="36576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E4EC"/>
                </a:solidFill>
              </a:rPr>
              <a:t>This Power BI dashboard for Sakila DVD Rental transforms raw transactional data into a fully interactive BI system — covering 5 analysis domains across 599 customers, 16K rentals, 1,000 films, 2 stores, and 109 countries.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1401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1E8C"/>
                </a:solidFill>
              </a:rPr>
              <a:t>›  </a:t>
            </a:r>
            <a:r>
              <a:rPr lang="en-US" sz="1000" dirty="0">
                <a:solidFill>
                  <a:srgbClr val="FFFFFF"/>
                </a:solidFill>
              </a:rPr>
              <a:t>SQL + Excel pipeline: clean, validated data from 15+ Sakila tables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89504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1E8C"/>
                </a:solidFill>
              </a:rPr>
              <a:t>›  </a:t>
            </a:r>
            <a:r>
              <a:rPr lang="en-US" sz="1000" dirty="0">
                <a:solidFill>
                  <a:srgbClr val="FFFFFF"/>
                </a:solidFill>
              </a:rPr>
              <a:t>DAX measures: MoM%, YTD, Customer Segments, Duration Buckets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364992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1E8C"/>
                </a:solidFill>
              </a:rPr>
              <a:t>›  </a:t>
            </a:r>
            <a:r>
              <a:rPr lang="en-US" sz="1000" dirty="0">
                <a:solidFill>
                  <a:srgbClr val="FFFFFF"/>
                </a:solidFill>
              </a:rPr>
              <a:t>6 interactive Power BI pages with slicers for Rating, Category, Country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1E8C"/>
                </a:solidFill>
              </a:rPr>
              <a:t>›  </a:t>
            </a:r>
            <a:r>
              <a:rPr lang="en-US" sz="1000" dirty="0">
                <a:solidFill>
                  <a:srgbClr val="FFFFFF"/>
                </a:solidFill>
              </a:rPr>
              <a:t>5 analysis domains with insights + actionable recommendations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31596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1E8C"/>
                </a:solidFill>
              </a:rPr>
              <a:t>›  </a:t>
            </a:r>
            <a:r>
              <a:rPr lang="en-US" sz="1000" dirty="0">
                <a:solidFill>
                  <a:srgbClr val="FFFFFF"/>
                </a:solidFill>
              </a:rPr>
              <a:t>6 strategic recommendations to drive revenue, film &amp; customer growth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74920" y="274320"/>
            <a:ext cx="3840480" cy="768096"/>
          </a:xfrm>
          <a:prstGeom prst="rect">
            <a:avLst/>
          </a:prstGeom>
          <a:solidFill>
            <a:srgbClr val="F9F0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74920" y="274320"/>
            <a:ext cx="45720" cy="768096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85232" y="320040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0840" y="4937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Analysis Modules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1188720"/>
            <a:ext cx="384048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74920" y="1188720"/>
            <a:ext cx="45720" cy="768096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85232" y="1234440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14081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Films Analyzed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2103120"/>
            <a:ext cx="3840480" cy="768096"/>
          </a:xfrm>
          <a:prstGeom prst="rect">
            <a:avLst/>
          </a:prstGeom>
          <a:solidFill>
            <a:srgbClr val="F9F0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74920" y="2103120"/>
            <a:ext cx="45720" cy="768096"/>
          </a:xfrm>
          <a:prstGeom prst="rect">
            <a:avLst/>
          </a:prstGeom>
          <a:solidFill>
            <a:srgbClr val="E91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85232" y="2148840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20840" y="23225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Rentals Processed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3017520"/>
            <a:ext cx="384048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74920" y="3017520"/>
            <a:ext cx="45720" cy="76809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85232" y="3063240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89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$67K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20840" y="32369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3931920"/>
            <a:ext cx="3840480" cy="768096"/>
          </a:xfrm>
          <a:prstGeom prst="rect">
            <a:avLst/>
          </a:prstGeom>
          <a:solidFill>
            <a:srgbClr val="F9F0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74920" y="3931920"/>
            <a:ext cx="45720" cy="768096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85232" y="3977640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C27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109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20840" y="41513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Countries Covered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185B"/>
                </a:solidFill>
              </a:rPr>
              <a:t>Aakriti  ·  M Com, MBA  ·  aakriti.9703@gmail.com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2084</Words>
  <Application>Microsoft Macintosh PowerPoint</Application>
  <PresentationFormat>On-screen Show (16:9)</PresentationFormat>
  <Paragraphs>250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Sakila DVD Rental – Power BI Dashboard</dc:title>
  <dc:subject>PptxGenJS Presentation</dc:subject>
  <dc:creator>Aakriti</dc:creator>
  <cp:lastModifiedBy>Aakriti Balachandran</cp:lastModifiedBy>
  <cp:revision>2</cp:revision>
  <dcterms:created xsi:type="dcterms:W3CDTF">2026-05-16T17:16:42Z</dcterms:created>
  <dcterms:modified xsi:type="dcterms:W3CDTF">2026-05-17T12:22:55Z</dcterms:modified>
</cp:coreProperties>
</file>