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6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92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F10E-76DB-3CC2-7E10-13B406328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4CA0D-BA79-583F-0750-B6915E61C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76B05-CB2D-DAB9-50BC-4F2561FA1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ABDEA-108B-962A-6E62-F643002A85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0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1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F2FAA-4AAC-4640-95D5-51F67E5DC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1CF27EA7-9988-BAB5-F18B-AB43260B2FBC}"/>
              </a:ext>
            </a:extLst>
          </p:cNvPr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B1139"/>
          </a:solidFill>
          <a:ln w="12700">
            <a:solidFill>
              <a:srgbClr val="7B11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4B1FA868-730C-1FE0-4E45-6B2F730F140C}"/>
              </a:ext>
            </a:extLst>
          </p:cNvPr>
          <p:cNvSpPr/>
          <p:nvPr/>
        </p:nvSpPr>
        <p:spPr>
          <a:xfrm>
            <a:off x="5943600" y="2560320"/>
            <a:ext cx="4572000" cy="4572000"/>
          </a:xfrm>
          <a:prstGeom prst="ellipse">
            <a:avLst/>
          </a:prstGeom>
          <a:solidFill>
            <a:srgbClr val="7B1139"/>
          </a:solidFill>
          <a:ln w="12700">
            <a:solidFill>
              <a:srgbClr val="7B11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4D0EA105-16FD-626C-5FA5-1C70D7FEC55F}"/>
              </a:ext>
            </a:extLst>
          </p:cNvPr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A62CDFD2-18F0-D712-8DE2-9EE1A5933D17}"/>
              </a:ext>
            </a:extLst>
          </p:cNvPr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C1E586D-C999-FA95-7124-953EBC8B2769}"/>
              </a:ext>
            </a:extLst>
          </p:cNvPr>
          <p:cNvSpPr/>
          <p:nvPr/>
        </p:nvSpPr>
        <p:spPr>
          <a:xfrm>
            <a:off x="457200" y="640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8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CFE90979-BBF8-61C0-3C33-8CC9B5113D0D}"/>
              </a:ext>
            </a:extLst>
          </p:cNvPr>
          <p:cNvSpPr/>
          <p:nvPr/>
        </p:nvSpPr>
        <p:spPr>
          <a:xfrm>
            <a:off x="457200" y="1051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E880AB"/>
                </a:solidFill>
              </a:rPr>
              <a:t>CAPSTONE PROJECT</a:t>
            </a:r>
            <a:endParaRPr lang="en-US" sz="9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74D657BD-9480-7B55-6594-BC2A14BFC332}"/>
              </a:ext>
            </a:extLst>
          </p:cNvPr>
          <p:cNvSpPr/>
          <p:nvPr/>
        </p:nvSpPr>
        <p:spPr>
          <a:xfrm>
            <a:off x="457200" y="15087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Sakila</a:t>
            </a:r>
            <a:endParaRPr lang="en-US" sz="54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39889351-25D1-242F-1BE6-154A15EACF44}"/>
              </a:ext>
            </a:extLst>
          </p:cNvPr>
          <p:cNvSpPr/>
          <p:nvPr/>
        </p:nvSpPr>
        <p:spPr>
          <a:xfrm>
            <a:off x="457200" y="2423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CE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DVD Rental</a:t>
            </a:r>
            <a:endParaRPr lang="en-US" sz="26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630959EF-73CA-EFA2-F04B-F7429C314861}"/>
              </a:ext>
            </a:extLst>
          </p:cNvPr>
          <p:cNvSpPr/>
          <p:nvPr/>
        </p:nvSpPr>
        <p:spPr>
          <a:xfrm>
            <a:off x="457200" y="29992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80AB"/>
                </a:solidFill>
              </a:rPr>
              <a:t>Store Business Intelligence</a:t>
            </a:r>
            <a:endParaRPr lang="en-US" sz="13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6D773042-BADC-FE12-655C-A1185E8B361F}"/>
              </a:ext>
            </a:extLst>
          </p:cNvPr>
          <p:cNvSpPr/>
          <p:nvPr/>
        </p:nvSpPr>
        <p:spPr>
          <a:xfrm>
            <a:off x="457200" y="34930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0AB"/>
                </a:solidFill>
              </a:rPr>
              <a:t>Analysed by  </a:t>
            </a:r>
            <a:r>
              <a:rPr lang="en-US" sz="1000" b="1" dirty="0">
                <a:solidFill>
                  <a:srgbClr val="FFFFFF"/>
                </a:solidFill>
              </a:rPr>
              <a:t>Aakriti</a:t>
            </a:r>
            <a:endParaRPr lang="en-US" sz="10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5962DC89-BAB0-4CFC-CFAC-5395954B5A3D}"/>
              </a:ext>
            </a:extLst>
          </p:cNvPr>
          <p:cNvSpPr/>
          <p:nvPr/>
        </p:nvSpPr>
        <p:spPr>
          <a:xfrm>
            <a:off x="457200" y="37490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0AB"/>
                </a:solidFill>
              </a:rPr>
              <a:t>Qualification  </a:t>
            </a:r>
            <a:r>
              <a:rPr lang="en-US" sz="1000" b="1" dirty="0">
                <a:solidFill>
                  <a:srgbClr val="FFFFFF"/>
                </a:solidFill>
              </a:rPr>
              <a:t>M Com, MBA</a:t>
            </a:r>
            <a:endParaRPr lang="en-US" sz="10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E870C6BE-3640-B91C-ED69-E4AA76E147BA}"/>
              </a:ext>
            </a:extLst>
          </p:cNvPr>
          <p:cNvSpPr/>
          <p:nvPr/>
        </p:nvSpPr>
        <p:spPr>
          <a:xfrm>
            <a:off x="457200" y="4005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0AB"/>
                </a:solidFill>
              </a:rPr>
              <a:t>Email  </a:t>
            </a:r>
            <a:r>
              <a:rPr lang="en-US" sz="1000" b="1" dirty="0">
                <a:solidFill>
                  <a:srgbClr val="FFFFFF"/>
                </a:solidFill>
              </a:rPr>
              <a:t>aakriti.9703@gmail.com</a:t>
            </a:r>
            <a:endParaRPr lang="en-US" sz="10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6E3878AB-DFE2-D8B1-2646-5525B45464EC}"/>
              </a:ext>
            </a:extLst>
          </p:cNvPr>
          <p:cNvSpPr/>
          <p:nvPr/>
        </p:nvSpPr>
        <p:spPr>
          <a:xfrm>
            <a:off x="457200" y="43708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500" dirty="0">
                <a:solidFill>
                  <a:srgbClr val="E880AB"/>
                </a:solidFill>
              </a:rPr>
              <a:t>TOOLS</a:t>
            </a:r>
            <a:endParaRPr lang="en-US" sz="80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1FE63B24-504A-1E2E-3915-A83F8BBC5416}"/>
              </a:ext>
            </a:extLst>
          </p:cNvPr>
          <p:cNvSpPr/>
          <p:nvPr/>
        </p:nvSpPr>
        <p:spPr>
          <a:xfrm>
            <a:off x="457200" y="4590288"/>
            <a:ext cx="1170432" cy="411480"/>
          </a:xfrm>
          <a:prstGeom prst="ellipse">
            <a:avLst/>
          </a:prstGeom>
          <a:solidFill>
            <a:srgbClr val="E91E8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9805D256-0C3B-73AC-8649-668A5CE3F1C7}"/>
              </a:ext>
            </a:extLst>
          </p:cNvPr>
          <p:cNvSpPr/>
          <p:nvPr/>
        </p:nvSpPr>
        <p:spPr>
          <a:xfrm>
            <a:off x="457200" y="459028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46CCD812-A834-4E98-8127-10B92CD52FA2}"/>
              </a:ext>
            </a:extLst>
          </p:cNvPr>
          <p:cNvSpPr/>
          <p:nvPr/>
        </p:nvSpPr>
        <p:spPr>
          <a:xfrm>
            <a:off x="1828800" y="4590288"/>
            <a:ext cx="1170432" cy="411480"/>
          </a:xfrm>
          <a:prstGeom prst="ellipse">
            <a:avLst/>
          </a:prstGeom>
          <a:solidFill>
            <a:srgbClr val="E91E8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4539C049-071D-2E67-3486-643B3C3AB579}"/>
              </a:ext>
            </a:extLst>
          </p:cNvPr>
          <p:cNvSpPr/>
          <p:nvPr/>
        </p:nvSpPr>
        <p:spPr>
          <a:xfrm>
            <a:off x="1828800" y="459028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</a:t>
            </a:r>
            <a:endParaRPr lang="en-US" sz="11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397335EF-316C-6EAF-9CE2-3850A98D0B67}"/>
              </a:ext>
            </a:extLst>
          </p:cNvPr>
          <p:cNvSpPr/>
          <p:nvPr/>
        </p:nvSpPr>
        <p:spPr>
          <a:xfrm>
            <a:off x="3200400" y="4590288"/>
            <a:ext cx="1170432" cy="411480"/>
          </a:xfrm>
          <a:prstGeom prst="ellipse">
            <a:avLst/>
          </a:prstGeom>
          <a:solidFill>
            <a:srgbClr val="E91E8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E673B91A-3A8E-78D0-EA3C-C6174464F6C7}"/>
              </a:ext>
            </a:extLst>
          </p:cNvPr>
          <p:cNvSpPr/>
          <p:nvPr/>
        </p:nvSpPr>
        <p:spPr>
          <a:xfrm>
            <a:off x="3200400" y="459028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8EB14261-33CE-E2E8-507C-212098702B0A}"/>
              </a:ext>
            </a:extLst>
          </p:cNvPr>
          <p:cNvSpPr/>
          <p:nvPr/>
        </p:nvSpPr>
        <p:spPr>
          <a:xfrm>
            <a:off x="5166360" y="320040"/>
            <a:ext cx="3794760" cy="749808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3520775C-18AE-42E5-0979-A7E5584E7927}"/>
              </a:ext>
            </a:extLst>
          </p:cNvPr>
          <p:cNvSpPr/>
          <p:nvPr/>
        </p:nvSpPr>
        <p:spPr>
          <a:xfrm>
            <a:off x="5166360" y="320040"/>
            <a:ext cx="45720" cy="749808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86B0BF66-32C9-3F4D-AB13-CB2F39DFF25D}"/>
              </a:ext>
            </a:extLst>
          </p:cNvPr>
          <p:cNvSpPr/>
          <p:nvPr/>
        </p:nvSpPr>
        <p:spPr>
          <a:xfrm>
            <a:off x="5394960" y="3657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$67K</a:t>
            </a:r>
            <a:endParaRPr lang="en-US" sz="220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2AC91B54-0869-5579-0ADF-6E105515B2B9}"/>
              </a:ext>
            </a:extLst>
          </p:cNvPr>
          <p:cNvSpPr/>
          <p:nvPr/>
        </p:nvSpPr>
        <p:spPr>
          <a:xfrm>
            <a:off x="6858000" y="521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A51753AB-D6AA-8D5D-5A31-FB817FDE1D12}"/>
              </a:ext>
            </a:extLst>
          </p:cNvPr>
          <p:cNvSpPr/>
          <p:nvPr/>
        </p:nvSpPr>
        <p:spPr>
          <a:xfrm>
            <a:off x="5166360" y="1234440"/>
            <a:ext cx="37947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2DFF9253-375B-8057-5649-600B830A6F5B}"/>
              </a:ext>
            </a:extLst>
          </p:cNvPr>
          <p:cNvSpPr/>
          <p:nvPr/>
        </p:nvSpPr>
        <p:spPr>
          <a:xfrm>
            <a:off x="5166360" y="1234440"/>
            <a:ext cx="45720" cy="74980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AB86AB0F-8C4F-496E-EB96-7E9BFF006298}"/>
              </a:ext>
            </a:extLst>
          </p:cNvPr>
          <p:cNvSpPr/>
          <p:nvPr/>
        </p:nvSpPr>
        <p:spPr>
          <a:xfrm>
            <a:off x="5394960" y="12801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584</a:t>
            </a:r>
            <a:endParaRPr lang="en-US" sz="220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B765B268-D787-3FF9-52E0-FA23625DBF7E}"/>
              </a:ext>
            </a:extLst>
          </p:cNvPr>
          <p:cNvSpPr/>
          <p:nvPr/>
        </p:nvSpPr>
        <p:spPr>
          <a:xfrm>
            <a:off x="6858000" y="14356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Active Customers</a:t>
            </a:r>
            <a:endParaRPr lang="en-US" sz="1000" dirty="0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F167F3C2-070F-66B0-29BA-6906B6E9DF66}"/>
              </a:ext>
            </a:extLst>
          </p:cNvPr>
          <p:cNvSpPr/>
          <p:nvPr/>
        </p:nvSpPr>
        <p:spPr>
          <a:xfrm>
            <a:off x="5166360" y="2148840"/>
            <a:ext cx="3794760" cy="749808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17B6513C-4ECA-86E9-124D-3DA99D7ED8E6}"/>
              </a:ext>
            </a:extLst>
          </p:cNvPr>
          <p:cNvSpPr/>
          <p:nvPr/>
        </p:nvSpPr>
        <p:spPr>
          <a:xfrm>
            <a:off x="5166360" y="2148840"/>
            <a:ext cx="45720" cy="74980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8E0370E2-9B81-9B8E-1C4D-76DFF4D740EA}"/>
              </a:ext>
            </a:extLst>
          </p:cNvPr>
          <p:cNvSpPr/>
          <p:nvPr/>
        </p:nvSpPr>
        <p:spPr>
          <a:xfrm>
            <a:off x="5394960" y="21945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2200" dirty="0"/>
          </a:p>
        </p:txBody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CA44D35C-04D3-4E35-B841-6DC45EDFCF73}"/>
              </a:ext>
            </a:extLst>
          </p:cNvPr>
          <p:cNvSpPr/>
          <p:nvPr/>
        </p:nvSpPr>
        <p:spPr>
          <a:xfrm>
            <a:off x="6858000" y="23500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Total Rentals</a:t>
            </a:r>
            <a:endParaRPr lang="en-US" sz="1000" dirty="0"/>
          </a:p>
        </p:txBody>
      </p:sp>
      <p:sp>
        <p:nvSpPr>
          <p:cNvPr id="55" name="Shape 31">
            <a:extLst>
              <a:ext uri="{FF2B5EF4-FFF2-40B4-BE49-F238E27FC236}">
                <a16:creationId xmlns:a16="http://schemas.microsoft.com/office/drawing/2014/main" id="{0C7413F0-12EB-91A6-BDF9-5F2F79EA2ED4}"/>
              </a:ext>
            </a:extLst>
          </p:cNvPr>
          <p:cNvSpPr/>
          <p:nvPr/>
        </p:nvSpPr>
        <p:spPr>
          <a:xfrm>
            <a:off x="5166360" y="3063240"/>
            <a:ext cx="37947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32">
            <a:extLst>
              <a:ext uri="{FF2B5EF4-FFF2-40B4-BE49-F238E27FC236}">
                <a16:creationId xmlns:a16="http://schemas.microsoft.com/office/drawing/2014/main" id="{3A5A0372-8577-AF74-C386-44F3511B6FA4}"/>
              </a:ext>
            </a:extLst>
          </p:cNvPr>
          <p:cNvSpPr/>
          <p:nvPr/>
        </p:nvSpPr>
        <p:spPr>
          <a:xfrm>
            <a:off x="5166360" y="3063240"/>
            <a:ext cx="45720" cy="7498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59245B5F-2B29-B371-D3DD-D3C86466BA36}"/>
              </a:ext>
            </a:extLst>
          </p:cNvPr>
          <p:cNvSpPr/>
          <p:nvPr/>
        </p:nvSpPr>
        <p:spPr>
          <a:xfrm>
            <a:off x="5394960" y="31089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5.03</a:t>
            </a:r>
            <a:endParaRPr lang="en-US" sz="2200" dirty="0"/>
          </a:p>
        </p:txBody>
      </p:sp>
      <p:sp>
        <p:nvSpPr>
          <p:cNvPr id="58" name="Text 34">
            <a:extLst>
              <a:ext uri="{FF2B5EF4-FFF2-40B4-BE49-F238E27FC236}">
                <a16:creationId xmlns:a16="http://schemas.microsoft.com/office/drawing/2014/main" id="{9963EAE0-B2A2-AF01-ACED-2A22DE911491}"/>
              </a:ext>
            </a:extLst>
          </p:cNvPr>
          <p:cNvSpPr/>
          <p:nvPr/>
        </p:nvSpPr>
        <p:spPr>
          <a:xfrm>
            <a:off x="6858000" y="3264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Avg Rental Days</a:t>
            </a:r>
            <a:endParaRPr lang="en-US" sz="1000" dirty="0"/>
          </a:p>
        </p:txBody>
      </p:sp>
      <p:sp>
        <p:nvSpPr>
          <p:cNvPr id="59" name="Shape 35">
            <a:extLst>
              <a:ext uri="{FF2B5EF4-FFF2-40B4-BE49-F238E27FC236}">
                <a16:creationId xmlns:a16="http://schemas.microsoft.com/office/drawing/2014/main" id="{DF37EFEA-EA2D-DEA4-6952-533DA83DCA49}"/>
              </a:ext>
            </a:extLst>
          </p:cNvPr>
          <p:cNvSpPr/>
          <p:nvPr/>
        </p:nvSpPr>
        <p:spPr>
          <a:xfrm>
            <a:off x="5166360" y="3977640"/>
            <a:ext cx="3794760" cy="749808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36">
            <a:extLst>
              <a:ext uri="{FF2B5EF4-FFF2-40B4-BE49-F238E27FC236}">
                <a16:creationId xmlns:a16="http://schemas.microsoft.com/office/drawing/2014/main" id="{D978E5C6-E8FD-F1B3-DE8C-36FF3EB91B27}"/>
              </a:ext>
            </a:extLst>
          </p:cNvPr>
          <p:cNvSpPr/>
          <p:nvPr/>
        </p:nvSpPr>
        <p:spPr>
          <a:xfrm>
            <a:off x="5166360" y="3977640"/>
            <a:ext cx="45720" cy="74980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37">
            <a:extLst>
              <a:ext uri="{FF2B5EF4-FFF2-40B4-BE49-F238E27FC236}">
                <a16:creationId xmlns:a16="http://schemas.microsoft.com/office/drawing/2014/main" id="{0A3F79E8-9DFB-83D3-3E14-EDAC7441EC7A}"/>
              </a:ext>
            </a:extLst>
          </p:cNvPr>
          <p:cNvSpPr/>
          <p:nvPr/>
        </p:nvSpPr>
        <p:spPr>
          <a:xfrm>
            <a:off x="5394960" y="40233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$4.17</a:t>
            </a:r>
            <a:endParaRPr lang="en-US" sz="2200" dirty="0"/>
          </a:p>
        </p:txBody>
      </p:sp>
      <p:sp>
        <p:nvSpPr>
          <p:cNvPr id="62" name="Text 38">
            <a:extLst>
              <a:ext uri="{FF2B5EF4-FFF2-40B4-BE49-F238E27FC236}">
                <a16:creationId xmlns:a16="http://schemas.microsoft.com/office/drawing/2014/main" id="{C16BA448-847A-35FE-47D1-94A91C5EE3DB}"/>
              </a:ext>
            </a:extLst>
          </p:cNvPr>
          <p:cNvSpPr/>
          <p:nvPr/>
        </p:nvSpPr>
        <p:spPr>
          <a:xfrm>
            <a:off x="6858000" y="4178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Revenue/Rental</a:t>
            </a:r>
            <a:endParaRPr lang="en-US" sz="1000" dirty="0"/>
          </a:p>
        </p:txBody>
      </p:sp>
      <p:sp>
        <p:nvSpPr>
          <p:cNvPr id="63" name="Text 39">
            <a:extLst>
              <a:ext uri="{FF2B5EF4-FFF2-40B4-BE49-F238E27FC236}">
                <a16:creationId xmlns:a16="http://schemas.microsoft.com/office/drawing/2014/main" id="{57808755-51EE-9E72-FBA5-A952A409D70E}"/>
              </a:ext>
            </a:extLst>
          </p:cNvPr>
          <p:cNvSpPr/>
          <p:nvPr/>
        </p:nvSpPr>
        <p:spPr>
          <a:xfrm>
            <a:off x="5166360" y="4956048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</a:rPr>
              <a:t>Dataset: Sakila MySQL Database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8725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 Rentals — Capstone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Index  |  Analysed by Aakriti  |  M Com, MBA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4206240" cy="3566160"/>
          </a:xfrm>
          <a:prstGeom prst="rect">
            <a:avLst/>
          </a:prstGeom>
          <a:solidFill>
            <a:srgbClr val="3D0A24">
              <a:alpha val="90000"/>
            </a:srgbClr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How does the sales revenue vary by month?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is the distribution of sales by payment method?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31136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Which customer segments generate the highest sales?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60904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is the distribution of films by rental duration?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How does the inventory vary by film rating?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 What is the breakdown of film categories in the inventory?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950208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 What is the distribution of staff by employment duration?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379976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 How does store performance vary by location?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206240" cy="3566160"/>
          </a:xfrm>
          <a:prstGeom prst="rect">
            <a:avLst/>
          </a:prstGeom>
          <a:solidFill>
            <a:srgbClr val="3D0A24">
              <a:alpha val="90000"/>
            </a:srgbClr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 What is the average rental duration by staff member?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What is the distribution of customers across different cities?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Q11. How does the rental revenue vary by country?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Q12. Which locations have the highest and lowest revenues?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Q13. What is the distribution of films by language?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88620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Q14. Which film categories have the highest rental rates?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Q15. How does the average rental duration vary by film category?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3–17 contain individual analysis for each question →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the sales revenue vary by month?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Sales &amp;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67K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42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42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16K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42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Total Rentals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98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98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4.17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98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Revenue/Rental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1572768"/>
            <a:ext cx="3154680" cy="3145536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sharply from May 2005, peaking in July 2005 at ~22K — the highest month recorded.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plateau and slight decline followed in August 2005, suggesting post-peak demand normalization.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consistent dashed average line (~15K) shows July significantly exceeded the baseline, indicating a seasonal or promotional surge.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May was the lowest (~2K), indicating a business ramp-up or new-launch effect.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the trend is strongly positive across the observation window, reflecting growing customer adoption.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Q1 of 15  |  Analysed by Aakriti, M Com, MBA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F14E26-4E39-93DB-56FF-E7C791174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72768"/>
            <a:ext cx="2474140" cy="22043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C62B7DB-31BB-C31C-114B-C672120D26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9"/>
          <a:stretch>
            <a:fillRect/>
          </a:stretch>
        </p:blipFill>
        <p:spPr>
          <a:xfrm>
            <a:off x="2767476" y="2541709"/>
            <a:ext cx="2924664" cy="2186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distribution of sales by payment method?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Sales &amp;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67K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42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42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41%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42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In-Store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98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98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40%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98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Online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1572768"/>
            <a:ext cx="3154680" cy="2935224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split nearly equally across three payment methods, showing no strong single dominant channel.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payments account for ~41% (34K), the largest share, indicating strong walk-in business.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 represent ~40% (33K), nearly matching in-store, reflecting digital adoption.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payment method contributes the remaining ~10% each (2 segments at 8K), likely representing cash/card variants.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near-equal split suggests the business successfully operates across multiple payment channels.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Q2 of 15  |  Analysed by Aakriti, M Com, MBA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BE3411-E2F7-A027-5762-9A02BF5AE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96" y="1655064"/>
            <a:ext cx="5232571" cy="2773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customer segments generate the highest sales?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Sales &amp;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584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Active Customers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80–150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Top Segment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1572768"/>
            <a:ext cx="3154680" cy="3081528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80–150 (Mid Value) segment generates the highest total revenue (~50K), making it the most commercially important group.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customers (&gt;150) contribute a moderate amount with a high per-customer revenue ratio.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 (&lt;80) customers are the least revenue-generating segment, though they may represent volume opportunities.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 Value segment has the largest customer count (~500), confirming it drives both volume and revenue.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focus should be on retaining Mid Value customers while upselling Low Value customers upward.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Q3 of 15  |  Analysed by Aakriti, M Com, MBA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D248C9-1420-E2D8-2E45-72C1FF286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03" y="1572768"/>
            <a:ext cx="5192158" cy="3099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distribution of films by rental duration?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Film &amp; Inventory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1,000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Total Films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42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42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4,581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42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Inventory Items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98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98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2.98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98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Avg Rental Rate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1677964"/>
            <a:ext cx="3154680" cy="276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1677964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1677964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2135164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films fall in the 4–6 day rental duration range, indicating standard rental policies.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films (≤65 mins) tend to cluster around lower rental durations (3–5 days).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films (&gt;165 mins) show slightly higher rental durations, likely commanding extended rental periods.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106–125 min length category is most numerous, confirming mainstream film lengths dominate inventory.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suggests inventory is well-stocked with medium-duration films, aligning with customer preferences.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Q4 of 15  |  Analysed by Aakriti, M Com, MBA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B6FE2DE-AB46-F994-9007-F2509EA0B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04765"/>
            <a:ext cx="5439828" cy="29535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the inventory vary by film rating?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Film &amp; Inventory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PG-13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Top Rated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42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42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42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Rating Types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98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98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4,581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98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Total Inventory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1653688"/>
            <a:ext cx="3154680" cy="2935224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165368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165368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211088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PG-13 rated films have the highest inventory count (~1,000+ items), making it the most stocked category.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NC-17 and PG ratings follow closely, indicating a diverse inventory catering to various age groups.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R-rated films are well-represented, appealing to the adult audience segment.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G-rated (general audience) films have the lowest inventory, suggesting less demand in a rental context.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film lengths are distributed across each rating, with 106–125 min films dominant in every category.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Q5 of 15  |  Analysed by Aakriti, M Com, MBA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54FAD95-92D9-EEEF-3E53-4593B063D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21" y="1622372"/>
            <a:ext cx="5049686" cy="2997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breakdown of film categories in the inventory?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Film &amp; Inventory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Unique Categories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42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42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1,000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42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Total Films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98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98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Sports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98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Top Category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1904540"/>
            <a:ext cx="3154680" cy="2400300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1904540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1904540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2361740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is the largest inventory category, followed by Sci-Fi, Drama and Documentary.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Animation, Family, and Action represent solid mid-tier categories in terms of item count.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and Children categories are smaller but still meaningful niches.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is fairly even across 16 unique categories, showing broad genre coverage.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and Comedy films are well-represented, reflecting diverse audience tastes globally.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Q6 of 15  |  Analysed by Aakriti, M Com, MBA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497940-738E-00E4-8324-418C6C18E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36" y="1614170"/>
            <a:ext cx="5151760" cy="31041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distribution of staff by employment duration?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Staff &amp; HR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5.03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Avg Rental Duration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Store Locations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1572768"/>
            <a:ext cx="3154680" cy="3081528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 &amp; HR Analytics page in the source report is present but the visual detail is limited in the exported PDF.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Store &amp; Operations data: the business operates with a lean staff structure, primarily across 2 store IDs.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staff member Jon Stephens logged consistent rentals of 8,121 per month across all recorded periods.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average rental duration is 5.03 days, suggesting a standard employment-aligned service cadence.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would benefit from headcount breakdowns by tenure bands to identify retention risks.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Q7 of 15  |  Analysed by Aakriti, M Com, MBA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3C59FB-724D-5CA8-715A-4A3EFA56A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72768"/>
            <a:ext cx="4551582" cy="31076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store performance vary </a:t>
            </a: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time</a:t>
            </a: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Store &amp; Operations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66.89K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Store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5.03 days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Avg Rental Duration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28352" y="1710332"/>
            <a:ext cx="3154680" cy="2862072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28352" y="1710332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19792" y="1710332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65512" y="2167532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1 and Store 2 both show strong revenue, with Store 1 slightly outperforming in July–August 2005.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peak combined monthly revenue reached ~22K in July 2005 for both stores combined.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revenue patterns show Store 1 leading on weekdays (Tue–Fri) while Store 2 catches up on weekends.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analysis across city-store IDs shows consistent Revenue per Rental around 4–5 across locations.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 metropolitan areas show higher total rentals, suggesting footfall-driven performance.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Q8 of 15  |  Analysed by Aakriti, M Com, MBA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83C5DD-7801-096F-4ABB-F371B3145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77" y="1572768"/>
            <a:ext cx="4389563" cy="31866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average rental duration by staff member?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Store &amp; Operations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5.01 days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Jon Stephens Avg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16,044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Total Rentals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1572768"/>
            <a:ext cx="3154680" cy="3081528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Stephens is the primary staff member recorded, with a consistent average rental duration of 5.01 days across all months.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rentals handled by Jon Stephens amount to 16,044, demonstrating high operational throughput.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generated by this staff member ranges from 2,201 (May) to 14,370 (Jul), reflecting seasonal demand.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rental duration across months suggests standardised processes rather than staff-driven variability.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multi-staff comparison would help identify if duration differences correlate with upselling or customer service quality.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Q9 of 15  |  Analysed by Aakriti, M Com, MBA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5597A37-3C11-3569-CD1A-FD6918A34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77" y="2231965"/>
            <a:ext cx="5159596" cy="17625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distribution of customers across different cities?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Customer &amp; Geographic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599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No. of Customers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42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42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109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42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Countries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98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98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599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98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Cities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1572768"/>
            <a:ext cx="3154680" cy="2935224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leads in total customer count among all cities, followed closely by London.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's-Hertogenbosch, A Coruña (La Coruña), and Abha round out the top 5 cities by customer volume.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cities have a mix of Low, Mid, and High Value customer segments, with Mid Value (80–150) dominating.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spans 599 cities across 109 countries, showing a truly global customer base.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targeting for promotions should prioritise the top 10 cities which likely drive disproportionate revenue.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Q10 of 15  |  Analysed by Aakriti, M Com, MBA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A72200-4971-AE11-ED06-12DB5289A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94" y="1956816"/>
            <a:ext cx="5413744" cy="20811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the rental revenue vary by country?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Customer &amp; Geographic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Countries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67K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1572768"/>
            <a:ext cx="3154680" cy="2935224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and Asia show the highest concentration of revenue-generating countries based on map density.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bubbles in Europe (notably UK, Germany) indicate significantly higher revenue than other regions.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 and Africa show emerging presence with smaller but growing revenue dots.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shows moderate presence, possibly indicating untapped market potential.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active customers (status=1) consistently outperform inactive markets in revenue contribution.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Q11 of 15  |  Analysed by Aakriti, M Com, MBA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769A31B-28B1-B249-8172-0AA058AA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04" y="1956816"/>
            <a:ext cx="5304141" cy="23003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locations have the highest and lowest revenues?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Customer &amp; Geographic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5K+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Top Country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2702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886968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109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170432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Total Countries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1572768"/>
            <a:ext cx="3154680" cy="2935224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scatter plot reveals clear stratification: a small cluster of countries generate 5K+ revenue with 30–60 customers.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countries fall in the 0–2K revenue range, forming a low-revenue long-tail distribution.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High-revenue outliers (upper-right cluster) are likely major urban markets in Europe/Asia.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Low-revenue markets (bottom-left) have minimal customer counts, suggesting untapped or underperforming regions.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in few locations presents both risk and opportunity for geographic diversification.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Q12 of 15  |  Analysed by Aakriti, M Com, MBA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FE2FDB4-82FE-E3B4-75EA-178B4F865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4930"/>
            <a:ext cx="5440680" cy="14138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distribution of films by language?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Film &amp; Inventory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1,000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Total Films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42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42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English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42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Primary Language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98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98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98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Categories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1572768"/>
            <a:ext cx="3154680" cy="2862072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Power BI report does not include an explicit language distribution chart in the visible pages.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film database context (Sakila), the majority of films (~97%) are in English.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proportion of films fall under other language categories, reflecting limited international titles.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Foreign film category (visible in inventory) serves as a proxy for non-English content.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language filter to the Film &amp; Inventory page would enhance this dimension of analysis significantly.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Q13 of 15  |  Analysed by Aakriti, M Com, MBA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B571949-109A-8E62-65D1-247F6FC98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479" y="1572768"/>
            <a:ext cx="3949138" cy="30013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film categories have the highest rental rates?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Film &amp; Inventory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2.98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Overall Avg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42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42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Games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42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Highest Rate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98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98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2.67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98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Documentary Rate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1572768"/>
            <a:ext cx="3154680" cy="3081528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and Travel categories command the highest average rental rates, indicating premium pricing for niche content.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Sci-Fi, Comedy, and Sports also show above-average rental rates, reflecting strong audience demand.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has the lowest average rental rate (2.67), likely due to lower perceived entertainment value.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films, despite popularity, show a lower rental rate — possibly due to high competition in the category.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 should consider raising rates for underpriced high-demand categories like Comedy and Sports.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Q14 of 15  |  Analysed by Aakriti, M Com, MBA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E9562A1-25CD-60CD-5CBF-607EECE2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24" y="1810512"/>
            <a:ext cx="4948448" cy="26068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the average rental duration vary by film category?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Film &amp; Inventory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5.03 days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Overall Avg Duration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42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42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Sports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42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Longest Avg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9800" y="868680"/>
            <a:ext cx="28224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BBD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9800" y="886968"/>
            <a:ext cx="282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</a:rPr>
              <a:t>16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9800" y="1170432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E46"/>
                </a:solidFill>
              </a:rPr>
              <a:t>Categories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1572768"/>
            <a:ext cx="3154680" cy="3081528"/>
          </a:xfrm>
          <a:prstGeom prst="rect">
            <a:avLst/>
          </a:prstGeom>
          <a:solidFill>
            <a:srgbClr val="FFFFFF"/>
          </a:solidFill>
          <a:ln w="19050">
            <a:solidFill>
              <a:srgbClr val="F8BB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1572768"/>
            <a:ext cx="3154680" cy="384048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1572768"/>
            <a:ext cx="2971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Key Insights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2029968"/>
            <a:ext cx="29260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rental duration by category oscillates between 4.0 and 5.2 days across all film categories.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and Games show slightly higher average rental durations, keeping customers engaged longer.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and Music show lower-than-average rental duration, suggesting quicker turnaround.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near-flat trend line across categories indicates rental policies are more uniform than category-driven.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 duration (bar) vs average (line) comparison reveals high-volume categories aren't always long-duration keepers.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9C1B5E"/>
          </a:solidFill>
          <a:ln w="12700">
            <a:solidFill>
              <a:srgbClr val="9C1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Movie Rentals Capstone  |  Q15 of 15  |  Analysed by Aakriti, M Com, MBA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2CDF117-773E-60B5-9BA4-1D4F3F0DE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4736"/>
            <a:ext cx="5292180" cy="2573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2171</Words>
  <Application>Microsoft Macintosh PowerPoint</Application>
  <PresentationFormat>On-screen Show (16:9)</PresentationFormat>
  <Paragraphs>286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Rentals — Capstone Analysis</dc:title>
  <dc:subject>PptxGenJS Presentation</dc:subject>
  <dc:creator>Aakriti</dc:creator>
  <cp:lastModifiedBy>Pavan kumar magandi</cp:lastModifiedBy>
  <cp:revision>4</cp:revision>
  <dcterms:created xsi:type="dcterms:W3CDTF">2026-05-17T07:17:06Z</dcterms:created>
  <dcterms:modified xsi:type="dcterms:W3CDTF">2026-05-17T08:38:40Z</dcterms:modified>
</cp:coreProperties>
</file>